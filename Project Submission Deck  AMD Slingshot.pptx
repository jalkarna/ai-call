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Poppi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Poppins-regular.fntdata"/><Relationship Id="rId22" Type="http://schemas.openxmlformats.org/officeDocument/2006/relationships/font" Target="fonts/Poppins-bold.fntdata"/><Relationship Id="rId23" Type="http://schemas.openxmlformats.org/officeDocument/2006/relationships/font" Target="fonts/Poppins-italic.fntdata"/><Relationship Id="rId24" Type="http://schemas.openxmlformats.org/officeDocument/2006/relationships/font" Target="fonts/Poppi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fa3dcd40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fa3dcd40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fa3dcd40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fa3dcd40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fa3dcd40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fa3dcd40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fa3dcd40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fa3dcd40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fa3dcd40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fa3dcd40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fa3dcd40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fa3dcd40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fa3dcd40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fa3dcd40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fa3dcd40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fa3dcd40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fa3dcd40f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fa3dcd40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fa3dcd40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fa3dcd40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fa3dcd40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fa3dcd40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fa3dcd40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fa3dcd40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1babfb1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1babfb1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fa3dcd40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fa3dcd40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AMD.PS.S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79825" y="33163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Details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40825" y="3778025"/>
            <a:ext cx="30000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t>Team name - Echelon</a:t>
            </a:r>
          </a:p>
          <a:p>
            <a:r>
              <a:t>Team leader name - Jalkarna</a:t>
            </a:r>
          </a:p>
          <a:p>
            <a:r>
              <a:t>Problem Statement - AI Call Center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Brief about the idea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AI-powered municipal complaint call center for Vadodara Municipal Corporation.</a:t>
            </a:r>
          </a:p>
          <a:p>
            <a:r>
              <a:t>- Answers citizen calls 24x7</a:t>
            </a:r>
          </a:p>
          <a:p>
            <a:r>
              <a:t>- Multilingual voice support: Hindi, Gujarati, English</a:t>
            </a:r>
          </a:p>
          <a:p>
            <a:r>
              <a:t>- Extracts structured complaint fields using Gemini + Sarvam STT</a:t>
            </a:r>
          </a:p>
          <a:p>
            <a:r>
              <a:t>- Confirms details and files ticket IDs automatically</a:t>
            </a:r>
          </a:p>
          <a:p>
            <a:r>
              <a:t>- Streams real-time call and complaint updates to admin dashboard</a:t>
            </a:r>
          </a:p>
        </p:txBody>
      </p:sp>
      <p:pic>
        <p:nvPicPr>
          <p:cNvPr id="65" name="Google Shape;65;p14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Opportunities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" name="Google Shape;72;p15"/>
          <p:cNvSpPr txBox="1"/>
          <p:nvPr>
            <p:ph idx="1" type="subTitle"/>
          </p:nvPr>
        </p:nvSpPr>
        <p:spPr>
          <a:xfrm>
            <a:off x="311700" y="2192150"/>
            <a:ext cx="8520600" cy="25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How different from existing ideas:</a:t>
            </a:r>
          </a:p>
          <a:p>
            <a:r>
              <a:t>- End-to-end voice-to-ticket pipeline, not just static IVR/chatbot</a:t>
            </a:r>
          </a:p>
          <a:p>
            <a:r>
              <a:t>- Real-time operator dashboard with call takeover</a:t>
            </a:r>
          </a:p>
          <a:p>
            <a:r>
              <a:t>How it solves the problem:</a:t>
            </a:r>
          </a:p>
          <a:p>
            <a:r>
              <a:t>- Reduces unanswered calls with instant AI response</a:t>
            </a:r>
          </a:p>
          <a:p>
            <a:r>
              <a:t>- Cuts manual entry delays and missed complaint details</a:t>
            </a:r>
          </a:p>
          <a:p>
            <a:r>
              <a:t>USP:</a:t>
            </a:r>
          </a:p>
          <a:p>
            <a:r>
              <a:t>- Deterministic state machine + AI confidence scoring per field</a:t>
            </a:r>
          </a:p>
        </p:txBody>
      </p:sp>
      <p:sp>
        <p:nvSpPr>
          <p:cNvPr id="73" name="Google Shape;73;p15"/>
          <p:cNvSpPr txBox="1"/>
          <p:nvPr/>
        </p:nvSpPr>
        <p:spPr>
          <a:xfrm>
            <a:off x="311700" y="1192175"/>
            <a:ext cx="85206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different is it from any of the other existing ideas?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will it be able to solve the problem?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USP of the proposed solution</a:t>
            </a:r>
            <a:endParaRPr/>
          </a:p>
        </p:txBody>
      </p:sp>
      <p:pic>
        <p:nvPicPr>
          <p:cNvPr id="74" name="Google Shape;74;p15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List of features offered by the solution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16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- 24x7 inbound call handling via Twilio</a:t>
            </a:r>
          </a:p>
          <a:p>
            <a:r>
              <a:t>- IVR language selection (Hindi/Gujarati/English)</a:t>
            </a:r>
          </a:p>
          <a:p>
            <a:r>
              <a:t>- Silero VAD based turn detection</a:t>
            </a:r>
          </a:p>
          <a:p>
            <a:r>
              <a:t>- Sarvam STT and Sarvam TTS integration</a:t>
            </a:r>
          </a:p>
          <a:p>
            <a:r>
              <a:t>- Gemini structured extraction with JSON outputs</a:t>
            </a:r>
          </a:p>
          <a:p>
            <a:r>
              <a:t>- Auto ticket generation (VMC-YYYY-NNNNN)</a:t>
            </a:r>
          </a:p>
          <a:p>
            <a:r>
              <a:t>- Live dashboard (calls, transcripts, notifications)</a:t>
            </a:r>
          </a:p>
          <a:p>
            <a:r>
              <a:t>- Human takeover/escalation flow</a:t>
            </a:r>
          </a:p>
          <a:p>
            <a:r>
              <a:t>- Complaint CRUD and audit-ready event logging</a:t>
            </a:r>
          </a:p>
        </p:txBody>
      </p:sp>
      <p:pic>
        <p:nvPicPr>
          <p:cNvPr id="82" name="Google Shape;82;p16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Process flow diagram or Use-case diagram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7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1. Citizen dials VMC helpline</a:t>
            </a:r>
          </a:p>
          <a:p>
            <a:r>
              <a:t>2. Twilio IVR captures language choice</a:t>
            </a:r>
          </a:p>
          <a:p>
            <a:r>
              <a:t>3. Audio stream sent by WebSocket to FastAPI</a:t>
            </a:r>
          </a:p>
          <a:p>
            <a:r>
              <a:t>4. Silero VAD + Sarvam STT generate transcript</a:t>
            </a:r>
          </a:p>
          <a:p>
            <a:r>
              <a:t>5. Gemini extracts complaint fields and next action</a:t>
            </a:r>
          </a:p>
          <a:p>
            <a:r>
              <a:t>6. Sarvam TTS replies and asks follow-ups</a:t>
            </a:r>
          </a:p>
          <a:p>
            <a:r>
              <a:t>7. Complaint saved in PostgreSQL with ticket ID</a:t>
            </a:r>
          </a:p>
          <a:p>
            <a:r>
              <a:t>8. Dashboard receives live updates over WebSocket</a:t>
            </a:r>
          </a:p>
        </p:txBody>
      </p:sp>
      <p:pic>
        <p:nvPicPr>
          <p:cNvPr id="90" name="Google Shape;90;p17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Wireframes/Mock diagrams of the proposed solution (optional)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8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Implemented screens in current prototype:</a:t>
            </a:r>
          </a:p>
          <a:p>
            <a:r>
              <a:t>- Login</a:t>
            </a:r>
          </a:p>
          <a:p>
            <a:r>
              <a:t>- Dashboard home</a:t>
            </a:r>
          </a:p>
          <a:p>
            <a:r>
              <a:t>- Calls list and call detail</a:t>
            </a:r>
          </a:p>
          <a:p>
            <a:r>
              <a:t>- Complaints list and complaint detail edit</a:t>
            </a:r>
          </a:p>
          <a:p>
            <a:r>
              <a:t>- Analytics</a:t>
            </a:r>
          </a:p>
          <a:p>
            <a:r>
              <a:t>- Settings</a:t>
            </a:r>
          </a:p>
          <a:p>
            <a:r>
              <a:t>Core UI components:</a:t>
            </a:r>
          </a:p>
          <a:p>
            <a:r>
              <a:t>- Transcript timeline</a:t>
            </a:r>
          </a:p>
          <a:p>
            <a:r>
              <a:t>- Audio player</a:t>
            </a:r>
          </a:p>
          <a:p>
            <a:r>
              <a:t>- Confidence indicator</a:t>
            </a:r>
          </a:p>
          <a:p>
            <a:r>
              <a:t>- Takeover modal</a:t>
            </a:r>
          </a:p>
          <a:p>
            <a:r>
              <a:t>- Live notification panel</a:t>
            </a:r>
          </a:p>
        </p:txBody>
      </p:sp>
      <p:pic>
        <p:nvPicPr>
          <p:cNvPr id="98" name="Google Shape;98;p18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Architecture diagram of the proposed solution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19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Caller (PSTN)</a:t>
            </a:r>
          </a:p>
          <a:p>
            <a:r>
              <a:t>-&gt; Twilio Programmable Voice + Media Streams</a:t>
            </a:r>
          </a:p>
          <a:p>
            <a:r>
              <a:t>-&gt; FastAPI Orchestrator (call_orchestrator + state_machine)</a:t>
            </a:r>
          </a:p>
          <a:p>
            <a:r>
              <a:t>-&gt; AI Layer: Sarvam STT, Gemini Flash, Sarvam TTS</a:t>
            </a:r>
          </a:p>
          <a:p>
            <a:r>
              <a:t>-&gt; Data Layer: PostgreSQL + Redis + S3 (audio storage)</a:t>
            </a:r>
          </a:p>
          <a:p>
            <a:r>
              <a:t>-&gt; Next.js Admin Dashboard (REST + WebSocket)</a:t>
            </a:r>
          </a:p>
          <a:p>
            <a:r>
              <a:t>Outcome: automated complaint registration with real-time monitoring</a:t>
            </a:r>
          </a:p>
        </p:txBody>
      </p:sp>
      <p:pic>
        <p:nvPicPr>
          <p:cNvPr id="106" name="Google Shape;106;p19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Technologies to be used in the solution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20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Frontend: Next.js 16.1.1, React 19.2.3, TypeScript, Tailwind CSS v4, shadcn/ui</a:t>
            </a:r>
          </a:p>
          <a:p>
            <a:r>
              <a:t>Backend: Python 3.10+, FastAPI, SQLAlchemy, asyncpg, WebSockets, structlog</a:t>
            </a:r>
          </a:p>
          <a:p>
            <a:r>
              <a:t>AI/Speech: Gemini Flash, Sarvam STT (saarika:v2.5), Sarvam TTS (bulbul:v2), Silero VAD</a:t>
            </a:r>
          </a:p>
          <a:p>
            <a:r>
              <a:t>Telephony: Twilio Programmable Voice + Twilio Media Streams</a:t>
            </a:r>
          </a:p>
          <a:p>
            <a:r>
              <a:t>Infra/Data: PostgreSQL, Redis, AWS S3, Docker</a:t>
            </a:r>
          </a:p>
        </p:txBody>
      </p:sp>
      <p:pic>
        <p:nvPicPr>
          <p:cNvPr id="114" name="Google Shape;114;p20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Usage of AMD Products/Solutions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21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Proposed AMD usage for production deployment:</a:t>
            </a:r>
          </a:p>
          <a:p>
            <a:r>
              <a:t>- Deploy backend/frontend/database containers on AMD EPYC instances</a:t>
            </a:r>
          </a:p>
          <a:p>
            <a:r>
              <a:t>- Run PyTorch/Silero VAD workloads on AMD CPU infrastructure</a:t>
            </a:r>
          </a:p>
          <a:p>
            <a:r>
              <a:t>- Scale WebSocket workers horizontally on AMD compute for peak traffic</a:t>
            </a:r>
          </a:p>
          <a:p>
            <a:r>
              <a:t>- Use this hardware-agnostic Docker stack directly on AMD cloud/bare metal</a:t>
            </a:r>
          </a:p>
          <a:p>
            <a:r>
              <a:t>- Future option: ROCm optimization path for speech/ML acceleration</a:t>
            </a:r>
          </a:p>
        </p:txBody>
      </p:sp>
      <p:pic>
        <p:nvPicPr>
          <p:cNvPr id="122" name="Google Shape;122;p21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Estimated implementation cost (optional)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p22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Estimated monthly pilot cost (500 calls/day, avg 2-3 min):</a:t>
            </a:r>
          </a:p>
          <a:p>
            <a:r>
              <a:t>- Twilio telephony/media: USD 300-600</a:t>
            </a:r>
          </a:p>
          <a:p>
            <a:r>
              <a:t>- STT + TTS APIs: USD 250-500</a:t>
            </a:r>
          </a:p>
          <a:p>
            <a:r>
              <a:t>- Gemini API usage: USD 100-250</a:t>
            </a:r>
          </a:p>
          <a:p>
            <a:r>
              <a:t>- Cloud infra (AMD VM + DB + storage): USD 150-300</a:t>
            </a:r>
          </a:p>
          <a:p>
            <a:r>
              <a:t>- Monitoring/ops: USD 50-100</a:t>
            </a:r>
          </a:p>
          <a:p>
            <a:r>
              <a:t>Total estimated OPEX: USD 850-1,750 per month</a:t>
            </a:r>
          </a:p>
          <a:p>
            <a:r>
              <a:t>Hackathon MVP cost: minimal using open-source stack + trial credits</a:t>
            </a:r>
          </a:p>
        </p:txBody>
      </p:sp>
      <p:pic>
        <p:nvPicPr>
          <p:cNvPr id="130" name="Google Shape;130;p22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idx="1" type="subTitle"/>
          </p:nvPr>
        </p:nvSpPr>
        <p:spPr>
          <a:xfrm>
            <a:off x="311700" y="1926000"/>
            <a:ext cx="8520600" cy="28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GitHub Public Repository Link:</a:t>
            </a:r>
          </a:p>
          <a:p>
            <a:r>
              <a:t>https://github.com/Jalkarna/ai-call</a:t>
            </a:r>
          </a:p>
          <a:p/>
          <a:p>
            <a:r>
              <a:t>Demo Video Link (Max: 3 Minutes):</a:t>
            </a:r>
          </a:p>
          <a:p>
            <a:r>
              <a:t>Pending upload (can be generated from live call flow demo)</a:t>
            </a:r>
          </a:p>
          <a:p/>
          <a:p>
            <a:r>
              <a:t>Demo portal credentials:</a:t>
            </a:r>
          </a:p>
          <a:p>
            <a:r>
              <a:t>admin@vmc.gov.in / admin123</a:t>
            </a:r>
          </a:p>
        </p:txBody>
      </p:sp>
      <p:sp>
        <p:nvSpPr>
          <p:cNvPr id="137" name="Google Shape;137;p23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Prototype Assets (Optional)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311700" y="1192175"/>
            <a:ext cx="8520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Public Repository Link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 Video Link (Max: 3 Minutes)</a:t>
            </a:r>
            <a:endParaRPr/>
          </a:p>
        </p:txBody>
      </p:sp>
      <p:pic>
        <p:nvPicPr>
          <p:cNvPr id="139" name="Google Shape;139;p23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idx="1" type="subTitle"/>
          </p:nvPr>
        </p:nvSpPr>
        <p:spPr>
          <a:xfrm>
            <a:off x="311700" y="1285750"/>
            <a:ext cx="8520600" cy="34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r>
              <a:t>Additional contest-aligned highlights:</a:t>
            </a:r>
          </a:p>
          <a:p>
            <a:r>
              <a:t>- 24x7 multilingual grievance intake for citizens</a:t>
            </a:r>
          </a:p>
          <a:p>
            <a:r>
              <a:t>- Faster ticket filing with structured complaint capture</a:t>
            </a:r>
          </a:p>
          <a:p>
            <a:r>
              <a:t>- Human takeover path for escalations/emergency context</a:t>
            </a:r>
          </a:p>
          <a:p>
            <a:r>
              <a:t>- Full traceability: transcripts, events, and complaint lifecycle</a:t>
            </a:r>
          </a:p>
          <a:p>
            <a:r>
              <a:t>- Next roadmap: civic system integration, auto-assignment, SLA analytics</a:t>
            </a:r>
          </a:p>
        </p:txBody>
      </p:sp>
      <p:sp>
        <p:nvSpPr>
          <p:cNvPr id="146" name="Google Shape;146;p24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Add as per the requirements of the contest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p24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4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5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5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6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7" title="AMD.PS.S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